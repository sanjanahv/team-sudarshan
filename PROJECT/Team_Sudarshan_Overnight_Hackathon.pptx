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59" r:id="rId6"/>
    <p:sldId id="267" r:id="rId7"/>
    <p:sldId id="260" r:id="rId8"/>
    <p:sldId id="261" r:id="rId9"/>
    <p:sldId id="268" r:id="rId10"/>
    <p:sldId id="263" r:id="rId11"/>
    <p:sldId id="264" r:id="rId12"/>
    <p:sldId id="26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-931" y="-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C7D8887C-7EF0-4836-BEBD-6849D3724569}" type="datetimeFigureOut">
              <a:rPr lang="en-IN" smtClean="0"/>
              <a:pPr/>
              <a:t>05-12-2025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D1EED570-12FC-41A8-A6BD-EC279C6036D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73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62CF-6AAB-41E5-9F59-5F9821C23A07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88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0723-934B-4C5C-8E11-E1A0D01FA80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6D70-AEA4-4737-B110-42188A0D273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35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FAF-C2C2-4F1D-A9E2-FBD526C52A90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8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17F2-7850-43DB-87C4-6B69E3351041}" type="datetime1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25A6-829B-458F-BE3C-BFBBE8285B5F}" type="datetime1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56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6450E-2391-48A4-94F5-674C0D15D9AF}" type="datetime1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7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ACD5-39B7-4B68-9759-FD02D7A8C9D4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2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984C-E423-4DD4-8F10-D1B767775CC5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36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7743-250E-476C-AEB6-30ABC12C9432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56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F9301-C3DC-4859-A0E7-08AD7EBFEC0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B1FAF43-094C-4256-886E-2CC6F4954150}" type="datetime1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/>
              <a:t>8th Mile X Overnight Hackathon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9E7A7228-CC1B-43A0-B0BD-71BB82C556D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540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259612-7AE2-27E2-C33A-A73383CFC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0595"/>
            <a:ext cx="9144000" cy="13993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Team Sudarshan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FFCA5A-0F2F-79F8-C0C2-E15F754EC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Saish Ambar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IN" dirty="0" err="1" smtClean="0">
                <a:cs typeface="Times New Roman" panose="02020603050405020304" pitchFamily="18" charset="0"/>
              </a:rPr>
              <a:t>Inika</a:t>
            </a:r>
            <a:r>
              <a:rPr lang="en-IN" dirty="0" smtClean="0"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cs typeface="Times New Roman" panose="02020603050405020304" pitchFamily="18" charset="0"/>
              </a:rPr>
              <a:t>Ranganath</a:t>
            </a:r>
            <a:r>
              <a:rPr lang="en-IN" dirty="0" smtClean="0">
                <a:cs typeface="Times New Roman" panose="02020603050405020304" pitchFamily="18" charset="0"/>
              </a:rPr>
              <a:t> Prasad</a:t>
            </a:r>
            <a:r>
              <a:rPr lang="en-IN" dirty="0">
                <a:cs typeface="Times New Roman" panose="02020603050405020304" pitchFamily="18" charset="0"/>
              </a:rPr>
              <a:t/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 smtClean="0">
                <a:cs typeface="Times New Roman" panose="02020603050405020304" pitchFamily="18" charset="0"/>
              </a:rPr>
              <a:t>Sanjana</a:t>
            </a:r>
            <a:r>
              <a:rPr lang="en-IN" dirty="0" smtClean="0">
                <a:cs typeface="Times New Roman" panose="02020603050405020304" pitchFamily="18" charset="0"/>
              </a:rPr>
              <a:t> H V</a:t>
            </a:r>
            <a:r>
              <a:rPr lang="en-IN" dirty="0">
                <a:cs typeface="Times New Roman" panose="02020603050405020304" pitchFamily="18" charset="0"/>
              </a:rPr>
              <a:t/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>
                <a:cs typeface="Times New Roman" panose="02020603050405020304" pitchFamily="18" charset="0"/>
              </a:rPr>
              <a:t>Rohan </a:t>
            </a:r>
            <a:r>
              <a:rPr lang="en-IN" dirty="0" err="1">
                <a:cs typeface="Times New Roman" panose="02020603050405020304" pitchFamily="18" charset="0"/>
              </a:rPr>
              <a:t>Mathad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BF04C8E-105F-DEFB-9BE3-A3532FB04480}"/>
              </a:ext>
            </a:extLst>
          </p:cNvPr>
          <p:cNvSpPr txBox="1"/>
          <p:nvPr/>
        </p:nvSpPr>
        <p:spPr>
          <a:xfrm>
            <a:off x="3048000" y="3245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C5407D8-01FB-606E-FF88-38D90059AC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EEF3145-EB29-5521-1C64-590D28F5B7E7}"/>
              </a:ext>
            </a:extLst>
          </p:cNvPr>
          <p:cNvSpPr txBox="1"/>
          <p:nvPr/>
        </p:nvSpPr>
        <p:spPr>
          <a:xfrm>
            <a:off x="3357908" y="417905"/>
            <a:ext cx="547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ED00"/>
                </a:solidFill>
                <a:latin typeface="Berlin Sans FB Demi" panose="020E0802020502020306" pitchFamily="34" charset="0"/>
              </a:rPr>
              <a:t>Overnight Hackathon</a:t>
            </a:r>
            <a:endParaRPr lang="en-IN" sz="4000" dirty="0">
              <a:solidFill>
                <a:srgbClr val="FFED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026" name="Picture 2" descr="Coding Club RVCE - YouTube">
            <a:extLst>
              <a:ext uri="{FF2B5EF4-FFF2-40B4-BE49-F238E27FC236}">
                <a16:creationId xmlns:a16="http://schemas.microsoft.com/office/drawing/2014/main" xmlns="" id="{B7DA7CCD-8519-BB5C-FF2C-98F56B8879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1C53965-DDE0-071D-A944-C778F6F5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Mile X Overnight Hackathon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2A1C2B0-E1CF-A76A-8DA1-1861999832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07A40A5D-41C7-857C-C05E-2517086FB91D}"/>
              </a:ext>
            </a:extLst>
          </p:cNvPr>
          <p:cNvCxnSpPr>
            <a:cxnSpLocks/>
          </p:cNvCxnSpPr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68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03DB19-A6AA-2E16-D353-BB481801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Problem Statement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CF28F3-FC1D-27D5-3E6D-B8072661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Title:</a:t>
            </a:r>
            <a:r>
              <a:rPr lang="en-US" sz="2200" dirty="0"/>
              <a:t> </a:t>
            </a:r>
            <a:r>
              <a:rPr lang="en-US" sz="2200" b="1" dirty="0"/>
              <a:t>The ₹70,000 Crore Challenge</a:t>
            </a:r>
            <a:endParaRPr lang="en-US" sz="2200" dirty="0"/>
          </a:p>
          <a:p>
            <a:r>
              <a:rPr lang="en-US" sz="2200" b="1" dirty="0"/>
              <a:t>The Crisis:</a:t>
            </a:r>
            <a:endParaRPr lang="en-US" sz="2200" dirty="0"/>
          </a:p>
          <a:p>
            <a:r>
              <a:rPr lang="en-US" sz="2200" dirty="0"/>
              <a:t>Indian government spends </a:t>
            </a:r>
            <a:r>
              <a:rPr lang="en-US" sz="2200" b="1" dirty="0"/>
              <a:t>₹70,000 crores annually</a:t>
            </a:r>
            <a:r>
              <a:rPr lang="en-US" sz="2200" dirty="0"/>
              <a:t> on agricultural subsidies</a:t>
            </a:r>
          </a:p>
          <a:p>
            <a:r>
              <a:rPr lang="en-US" sz="2200" b="1" dirty="0"/>
              <a:t>Significant portion never reaches farmers</a:t>
            </a:r>
            <a:r>
              <a:rPr lang="en-US" sz="2200" dirty="0"/>
              <a:t> due to systemic fraud</a:t>
            </a:r>
          </a:p>
          <a:p>
            <a:r>
              <a:rPr lang="en-US" sz="2200" b="1" dirty="0"/>
              <a:t>Key Fraud Patterns:</a:t>
            </a:r>
            <a:endParaRPr lang="en-US" sz="2200" dirty="0"/>
          </a:p>
          <a:p>
            <a:r>
              <a:rPr lang="en-US" sz="2200" b="1" dirty="0"/>
              <a:t>Ghost Farmers:</a:t>
            </a:r>
            <a:r>
              <a:rPr lang="en-US" sz="2200" dirty="0"/>
              <a:t> Fake beneficiaries in dealer lists</a:t>
            </a:r>
          </a:p>
          <a:p>
            <a:r>
              <a:rPr lang="en-US" sz="2200" b="1" dirty="0"/>
              <a:t>Over-Claiming:</a:t>
            </a:r>
            <a:r>
              <a:rPr lang="en-US" sz="2200" dirty="0"/>
              <a:t> Fertilizer claims exceeding land capacity</a:t>
            </a:r>
          </a:p>
          <a:p>
            <a:r>
              <a:rPr lang="en-US" sz="2200" b="1" dirty="0"/>
              <a:t>Market Diversion:</a:t>
            </a:r>
            <a:r>
              <a:rPr lang="en-US" sz="2200" dirty="0"/>
              <a:t> Subsidized goods sold at market prices</a:t>
            </a:r>
          </a:p>
          <a:p>
            <a:r>
              <a:rPr lang="en-US" sz="2200" b="1" dirty="0"/>
              <a:t>Invoice Manipulation:</a:t>
            </a:r>
            <a:r>
              <a:rPr lang="en-US" sz="2200" dirty="0"/>
              <a:t> Fake transactions for undelivered goods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7CEF9FE-2345-2CFD-5A68-9F5E3688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09480E-04FA-0596-F393-3CC80184F0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6" name="Picture 2" descr="Coding Club RVCE - YouTube">
            <a:extLst>
              <a:ext uri="{FF2B5EF4-FFF2-40B4-BE49-F238E27FC236}">
                <a16:creationId xmlns:a16="http://schemas.microsoft.com/office/drawing/2014/main" xmlns="" id="{8EBE7C6E-E10C-2734-429D-7B6C92A3A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51674D7-F761-1FCA-898E-0ADCB8EE01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AB5D268-A3D1-AD21-1ADF-BF036EA48E60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99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6A40E4-65A9-9D88-AE27-61A2C5D1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FCF058-4387-AA49-7E7D-F09247AD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Problem Statement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9AAE41-69C0-EA48-3AC4-A31FA9B8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Current Limitations:</a:t>
            </a:r>
            <a:endParaRPr lang="en-US" dirty="0"/>
          </a:p>
          <a:p>
            <a:r>
              <a:rPr lang="en-US" sz="2400" dirty="0"/>
              <a:t>Annual manual audits cover only </a:t>
            </a:r>
            <a:r>
              <a:rPr lang="en-US" sz="2400" b="1" dirty="0"/>
              <a:t>1-2%</a:t>
            </a:r>
            <a:r>
              <a:rPr lang="en-US" sz="2400" dirty="0"/>
              <a:t> of transactions</a:t>
            </a:r>
          </a:p>
          <a:p>
            <a:r>
              <a:rPr lang="en-US" sz="2400" dirty="0"/>
              <a:t>Multiple intermediaries create opacity</a:t>
            </a:r>
          </a:p>
          <a:p>
            <a:r>
              <a:rPr lang="en-US" sz="2400" dirty="0"/>
              <a:t>No real-time monitoring or verification</a:t>
            </a:r>
          </a:p>
          <a:p>
            <a:r>
              <a:rPr lang="en-US" sz="2400" b="1" dirty="0"/>
              <a:t>Impact:</a:t>
            </a:r>
            <a:endParaRPr lang="en-US" sz="2400" dirty="0"/>
          </a:p>
          <a:p>
            <a:r>
              <a:rPr lang="en-US" sz="2400" dirty="0"/>
              <a:t>Farmers pay market prices despite subsidies</a:t>
            </a:r>
          </a:p>
          <a:p>
            <a:r>
              <a:rPr lang="en-US" sz="2400" dirty="0"/>
              <a:t>Taxpayer money funds phantom beneficiaries</a:t>
            </a:r>
          </a:p>
          <a:p>
            <a:r>
              <a:rPr lang="en-US" sz="2400" dirty="0"/>
              <a:t>Undermines agricultural productivity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B8DD583-8D32-C93B-34C8-7C57937A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4A492B8-95EC-5B4D-EF5D-EE3A7E1D91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6" name="Picture 2" descr="Coding Club RVCE - YouTube">
            <a:extLst>
              <a:ext uri="{FF2B5EF4-FFF2-40B4-BE49-F238E27FC236}">
                <a16:creationId xmlns:a16="http://schemas.microsoft.com/office/drawing/2014/main" xmlns="" id="{E74064EB-6D71-6930-21AB-F2D7409C4C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89BBE6A-B343-D95B-57AE-1B34D15572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7110C18E-1970-83D0-52BD-6EB5381EC939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794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1497B2-096F-8F6E-FFD3-9A6DA573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Proposed Solution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E5FDBB-DB73-42AA-8F1A-CC2DDD1A7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5" y="1263964"/>
            <a:ext cx="11090780" cy="5092386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Title:</a:t>
            </a:r>
            <a:r>
              <a:rPr lang="en-IN" sz="2400" dirty="0"/>
              <a:t> </a:t>
            </a:r>
            <a:r>
              <a:rPr lang="en-IN" sz="2400" b="1" dirty="0"/>
              <a:t>Intelligent Subsidy Integrity Platform</a:t>
            </a:r>
            <a:endParaRPr lang="en-IN" sz="2400" dirty="0"/>
          </a:p>
          <a:p>
            <a:r>
              <a:rPr lang="en-IN" sz="2400" b="1" dirty="0"/>
              <a:t>Core Concept: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A </a:t>
            </a:r>
            <a:r>
              <a:rPr lang="en-IN" sz="2400" b="1" dirty="0"/>
              <a:t>real-time fraud detection system</a:t>
            </a:r>
            <a:r>
              <a:rPr lang="en-IN" sz="2400" dirty="0"/>
              <a:t> that analyses subsidy distribution patterns to identify anomalies and verify beneficiary authenticity.</a:t>
            </a:r>
          </a:p>
          <a:p>
            <a:r>
              <a:rPr lang="en-IN" sz="2400" b="1" dirty="0"/>
              <a:t>How It Works:</a:t>
            </a:r>
            <a:endParaRPr lang="en-IN" sz="2400" dirty="0"/>
          </a:p>
          <a:p>
            <a:r>
              <a:rPr lang="en-IN" sz="2400" b="1" dirty="0"/>
              <a:t>Data Aggregation:</a:t>
            </a:r>
            <a:r>
              <a:rPr lang="en-IN" sz="2400" dirty="0"/>
              <a:t> Consolidate farmers, dealers, and transactions data</a:t>
            </a:r>
          </a:p>
          <a:p>
            <a:r>
              <a:rPr lang="en-IN" sz="2400" b="1" dirty="0"/>
              <a:t>Real-time Verification:</a:t>
            </a:r>
            <a:r>
              <a:rPr lang="en-IN" sz="2400" dirty="0"/>
              <a:t> Instant trust scoring during subsidy distribution</a:t>
            </a:r>
          </a:p>
          <a:p>
            <a:r>
              <a:rPr lang="en-IN" sz="2400" b="1" dirty="0"/>
              <a:t>Actionable Insights:</a:t>
            </a:r>
            <a:r>
              <a:rPr lang="en-IN" sz="2400" dirty="0"/>
              <a:t> Flag suspicious entities for investigation</a:t>
            </a:r>
          </a:p>
          <a:p>
            <a:r>
              <a:rPr lang="en-US" sz="3000" b="1" dirty="0"/>
              <a:t>Value Proposition:</a:t>
            </a:r>
            <a:endParaRPr lang="en-US" sz="3000" dirty="0"/>
          </a:p>
          <a:p>
            <a:r>
              <a:rPr lang="en-US" sz="2600" b="1" dirty="0"/>
              <a:t>For Government:</a:t>
            </a:r>
            <a:r>
              <a:rPr lang="en-US" sz="2600" dirty="0"/>
              <a:t> 15-30% reduction in subsidy leakage</a:t>
            </a:r>
          </a:p>
          <a:p>
            <a:r>
              <a:rPr lang="en-US" sz="2600" b="1" dirty="0"/>
              <a:t>For Farmers:</a:t>
            </a:r>
            <a:r>
              <a:rPr lang="en-US" sz="2600" dirty="0"/>
              <a:t> Guaranteed access to entitled subsidies</a:t>
            </a:r>
          </a:p>
          <a:p>
            <a:r>
              <a:rPr lang="en-US" sz="2600" b="1" dirty="0"/>
              <a:t>For Dealers:</a:t>
            </a:r>
            <a:r>
              <a:rPr lang="en-US" sz="2600" dirty="0"/>
              <a:t> Clean ecosystem, reduced audit burden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D80965B-6823-497E-AFB8-4ABB6713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FD19F21-6554-EE4F-1134-2DFE846B7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62335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6056AACE-5E5F-784F-1F02-130C50F51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40412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3B8D0EB-9488-944E-5ABA-98B1C36CF4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40412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8E3E2D7-5126-6436-C689-6DEC3DEE0724}"/>
              </a:ext>
            </a:extLst>
          </p:cNvPr>
          <p:cNvCxnSpPr>
            <a:cxnSpLocks/>
          </p:cNvCxnSpPr>
          <p:nvPr/>
        </p:nvCxnSpPr>
        <p:spPr>
          <a:xfrm>
            <a:off x="11205791" y="255536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6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23BB26-CD15-DCB2-2437-C4CF2B67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Key Features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9ACEF9-E95D-50AB-0947-0F843C39C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 Real-time Fraud </a:t>
            </a:r>
            <a:r>
              <a:rPr lang="en-IN" b="1" dirty="0" smtClean="0"/>
              <a:t>Detection</a:t>
            </a:r>
            <a:endParaRPr lang="en-IN" sz="2400" dirty="0"/>
          </a:p>
          <a:p>
            <a:r>
              <a:rPr lang="en-IN" sz="2400" b="1" dirty="0"/>
              <a:t>Over-Claiming Analysis:</a:t>
            </a:r>
            <a:r>
              <a:rPr lang="en-IN" sz="2400" dirty="0"/>
              <a:t> Land size vs. claim quantity correlation</a:t>
            </a:r>
          </a:p>
          <a:p>
            <a:r>
              <a:rPr lang="en-IN" sz="2400" b="1" dirty="0"/>
              <a:t>Dealer Anomaly Detection:</a:t>
            </a:r>
            <a:r>
              <a:rPr lang="en-IN" sz="2400" dirty="0"/>
              <a:t> Statistical outlier identification</a:t>
            </a:r>
          </a:p>
          <a:p>
            <a:pPr marL="0" indent="0">
              <a:buNone/>
            </a:pPr>
            <a:r>
              <a:rPr lang="en-IN" b="1" dirty="0"/>
              <a:t>2. Interactive Dashboard</a:t>
            </a:r>
          </a:p>
          <a:p>
            <a:r>
              <a:rPr lang="en-IN" sz="2400" b="1" dirty="0"/>
              <a:t>Live Monitoring:</a:t>
            </a:r>
            <a:r>
              <a:rPr lang="en-IN" sz="2400" dirty="0"/>
              <a:t> Real-time transaction tracking</a:t>
            </a:r>
          </a:p>
          <a:p>
            <a:r>
              <a:rPr lang="en-IN" sz="2400" b="1" dirty="0"/>
              <a:t>Geographic Heatmaps:</a:t>
            </a:r>
            <a:r>
              <a:rPr lang="en-IN" sz="2400" dirty="0"/>
              <a:t> District-wise fraud pattern visualization</a:t>
            </a:r>
          </a:p>
          <a:p>
            <a:r>
              <a:rPr lang="en-IN" sz="2400" b="1" dirty="0"/>
              <a:t>Risk Scoring:</a:t>
            </a:r>
            <a:r>
              <a:rPr lang="en-IN" sz="2400" dirty="0"/>
              <a:t> 0-100 trust score for every farmer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40BD847-7ED9-F646-AB7E-E9606D42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F2044D5-379F-F03D-8F3B-3D939046FA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6584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C1440A6D-A1C8-C404-9784-2A8E3A485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34661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E271AB1-287D-AF8A-726C-2B1A83C1A0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34661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BBB2D34A-EB28-6373-AFFB-E3BE50E6BF03}"/>
              </a:ext>
            </a:extLst>
          </p:cNvPr>
          <p:cNvCxnSpPr>
            <a:cxnSpLocks/>
          </p:cNvCxnSpPr>
          <p:nvPr/>
        </p:nvCxnSpPr>
        <p:spPr>
          <a:xfrm>
            <a:off x="11205791" y="249785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42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D65605-ED7A-4B16-A792-F8E606C1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856251-402A-D8BA-3F7D-5EB55707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Key Features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AC0AFA-4723-B20D-1330-35B4F449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20"/>
            <a:ext cx="10515600" cy="49129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3</a:t>
            </a:r>
            <a:r>
              <a:rPr lang="en-IN" sz="3300" b="1" dirty="0"/>
              <a:t>. Verification Engine</a:t>
            </a:r>
          </a:p>
          <a:p>
            <a:r>
              <a:rPr lang="en-IN" b="1" dirty="0"/>
              <a:t>Multi-factor Authentication:</a:t>
            </a:r>
            <a:r>
              <a:rPr lang="en-IN" dirty="0"/>
              <a:t> Aadhar, land records, bank account cross-verification</a:t>
            </a:r>
          </a:p>
          <a:p>
            <a:r>
              <a:rPr lang="en-IN" b="1" dirty="0"/>
              <a:t>Historical Pattern Analysis:</a:t>
            </a:r>
            <a:r>
              <a:rPr lang="en-IN" dirty="0"/>
              <a:t> Seasonal claim consistency checks</a:t>
            </a:r>
          </a:p>
          <a:p>
            <a:r>
              <a:rPr lang="en-IN" b="1" dirty="0"/>
              <a:t>Alert System:</a:t>
            </a:r>
            <a:r>
              <a:rPr lang="en-IN" dirty="0"/>
              <a:t> Automated flags for suspicious patterns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300" b="1" dirty="0"/>
              <a:t>4. Reporting &amp; Analytics</a:t>
            </a:r>
          </a:p>
          <a:p>
            <a:r>
              <a:rPr lang="en-IN" b="1" dirty="0"/>
              <a:t>Automated Audit Reports:</a:t>
            </a:r>
            <a:r>
              <a:rPr lang="en-IN" dirty="0"/>
              <a:t> </a:t>
            </a:r>
            <a:r>
              <a:rPr lang="en-IN" dirty="0" smtClean="0"/>
              <a:t>CSV</a:t>
            </a:r>
            <a:r>
              <a:rPr lang="en-IN" dirty="0" smtClean="0"/>
              <a:t> </a:t>
            </a:r>
            <a:r>
              <a:rPr lang="en-IN" dirty="0"/>
              <a:t>generation of suspicious cases</a:t>
            </a:r>
          </a:p>
          <a:p>
            <a:r>
              <a:rPr lang="en-IN" b="1" dirty="0"/>
              <a:t>Trend Analysis:</a:t>
            </a:r>
            <a:r>
              <a:rPr lang="en-IN" dirty="0"/>
              <a:t> Year-on-year comparison</a:t>
            </a:r>
          </a:p>
          <a:p>
            <a:r>
              <a:rPr lang="en-IN" b="1" dirty="0"/>
              <a:t>Predictive Modelling:</a:t>
            </a:r>
            <a:r>
              <a:rPr lang="en-IN" dirty="0"/>
              <a:t> Forecast potential fraud hotspots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300" b="1" dirty="0"/>
              <a:t>Demo Highlights:</a:t>
            </a:r>
            <a:endParaRPr lang="en-IN" sz="3300" dirty="0"/>
          </a:p>
          <a:p>
            <a:r>
              <a:rPr lang="en-IN" dirty="0"/>
              <a:t>Working prototype with sample data</a:t>
            </a:r>
          </a:p>
          <a:p>
            <a:r>
              <a:rPr lang="en-IN" dirty="0"/>
              <a:t>Real-time trust verification</a:t>
            </a:r>
          </a:p>
          <a:p>
            <a:r>
              <a:rPr lang="en-IN" dirty="0"/>
              <a:t>Interactive visualizations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503C4BE-FEF8-9A64-8E13-AFBCC5368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2CFDF83-D581-0F6F-004D-2E6D51B6C2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6584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38334B45-6395-D245-79D5-09CCCCA40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34661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56CC43F-681B-CD0A-AF42-143F3165E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34661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E1F1CF7C-5699-DA19-67BF-87D408F6ECED}"/>
              </a:ext>
            </a:extLst>
          </p:cNvPr>
          <p:cNvCxnSpPr>
            <a:cxnSpLocks/>
          </p:cNvCxnSpPr>
          <p:nvPr/>
        </p:nvCxnSpPr>
        <p:spPr>
          <a:xfrm>
            <a:off x="11205791" y="249785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55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F8CA354-0961-EB0C-3268-4D25B288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D16F5F-5EA3-A182-2137-66D21004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System Architecture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6" name="Content Placeholder 5" descr="A diagram of a data flow&#10;&#10;AI-generated content may be incorrect.">
            <a:extLst>
              <a:ext uri="{FF2B5EF4-FFF2-40B4-BE49-F238E27FC236}">
                <a16:creationId xmlns:a16="http://schemas.microsoft.com/office/drawing/2014/main" xmlns="" id="{70F5456A-2211-0AAA-87F6-4252D004D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07" y="1314767"/>
            <a:ext cx="3084879" cy="462731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DC09F7-4A06-242C-CA34-E2A2532D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4D545C5-2736-5306-F5D1-E2ECC16F89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7779D6B2-D56E-5A53-F6AF-8E2A48A88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696ED6-F8D2-0D65-B14D-49E6687954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E5562EB9-FCBA-D36E-AE7A-E864EE5BBCB3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60A4613-9495-D903-C7E5-A8106889E248}"/>
              </a:ext>
            </a:extLst>
          </p:cNvPr>
          <p:cNvSpPr txBox="1"/>
          <p:nvPr/>
        </p:nvSpPr>
        <p:spPr>
          <a:xfrm>
            <a:off x="4236720" y="1576582"/>
            <a:ext cx="6096000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Data Flow:</a:t>
            </a:r>
            <a:endParaRPr lang="en-IN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Input:</a:t>
            </a: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 Government datasets (farmers, dealers, transactions)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Processing:</a:t>
            </a: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 Fraud detection algorithms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Output:</a:t>
            </a: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 Trust scores, alerts, visualizations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Scalability Features:</a:t>
            </a:r>
            <a:endParaRPr lang="en-IN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Modular design for easy feature addition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API-first approach for integration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F9FAFB"/>
                </a:solidFill>
                <a:effectLst/>
                <a:latin typeface="quote-cjk-patch"/>
              </a:rPr>
              <a:t>Cloud-ready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9392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55A8BD-A6DB-C0A3-7240-9026AD6D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23E4FB-1F96-CD1B-8358-DA55D4EE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Tech Stack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35DA2D-CD18-2532-459A-A62737274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Frontend:</a:t>
            </a:r>
          </a:p>
          <a:p>
            <a:r>
              <a:rPr lang="en-IN" sz="2400" b="1" dirty="0" err="1"/>
              <a:t>Streamlit</a:t>
            </a:r>
            <a:r>
              <a:rPr lang="en-IN" sz="2400" b="1" dirty="0"/>
              <a:t>:</a:t>
            </a:r>
            <a:r>
              <a:rPr lang="en-IN" sz="2400" dirty="0"/>
              <a:t> Rapid web app development</a:t>
            </a:r>
          </a:p>
          <a:p>
            <a:r>
              <a:rPr lang="en-IN" sz="2400" b="1" dirty="0" err="1"/>
              <a:t>Plotly</a:t>
            </a:r>
            <a:r>
              <a:rPr lang="en-IN" sz="2400" b="1" dirty="0"/>
              <a:t>:</a:t>
            </a:r>
            <a:r>
              <a:rPr lang="en-IN" sz="2400" dirty="0"/>
              <a:t> Interactive data visualizations</a:t>
            </a:r>
          </a:p>
          <a:p>
            <a:pPr marL="0" indent="0">
              <a:buNone/>
            </a:pPr>
            <a:r>
              <a:rPr lang="en-IN" sz="2400" b="1" dirty="0"/>
              <a:t>Backend &amp; Data Processing:</a:t>
            </a:r>
          </a:p>
          <a:p>
            <a:r>
              <a:rPr lang="en-IN" sz="2400" b="1" dirty="0"/>
              <a:t>Python 3.9+:</a:t>
            </a:r>
            <a:r>
              <a:rPr lang="en-IN" sz="2400" dirty="0"/>
              <a:t> Core programming language</a:t>
            </a:r>
          </a:p>
          <a:p>
            <a:r>
              <a:rPr lang="en-IN" sz="2400" b="1" dirty="0"/>
              <a:t>Pandas:</a:t>
            </a:r>
            <a:r>
              <a:rPr lang="en-IN" sz="2400" dirty="0"/>
              <a:t> Data manipulation and </a:t>
            </a:r>
            <a:r>
              <a:rPr lang="en-IN" sz="2400" dirty="0" smtClean="0"/>
              <a:t>analysis</a:t>
            </a:r>
          </a:p>
          <a:p>
            <a:r>
              <a:rPr lang="en-IN" sz="2400" dirty="0" err="1" smtClean="0"/>
              <a:t>Numpy:Data</a:t>
            </a:r>
            <a:r>
              <a:rPr lang="en-IN" sz="2400" dirty="0" smtClean="0"/>
              <a:t> calculation purposes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1EB026B-73F6-2B93-1AE5-C0278CF1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5696FF0-45CD-49ED-9DE4-BAD88486C1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54C0E578-EAFC-0379-2FD3-6A5836BDC7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F64925B-8E60-5270-DB2E-EF39F9639B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1561A5E-C8DB-E390-CCA2-68B9974C0B4C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82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698E79-72AC-F7E3-E5D5-51AEA53A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DE3A99-975D-F538-5966-21B6A9EB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060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Tech Stack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01A8C1-926F-049D-D510-ACBC49552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71" y="984163"/>
            <a:ext cx="1119206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/>
              <a:t>Fraud Detection Algorithms</a:t>
            </a:r>
          </a:p>
          <a:p>
            <a:r>
              <a:rPr lang="en-IN" sz="2400" b="1" dirty="0"/>
              <a:t>Statistical Analysis:</a:t>
            </a:r>
            <a:r>
              <a:rPr lang="en-IN" sz="2400" dirty="0"/>
              <a:t> Z-score, standard deviation</a:t>
            </a:r>
          </a:p>
          <a:p>
            <a:r>
              <a:rPr lang="en-IN" sz="2400" b="1" dirty="0"/>
              <a:t>Pattern Recognition:</a:t>
            </a:r>
            <a:r>
              <a:rPr lang="en-IN" sz="2400" dirty="0"/>
              <a:t> Temporal and geographic clustering</a:t>
            </a:r>
          </a:p>
          <a:p>
            <a:r>
              <a:rPr lang="en-IN" sz="2400" b="1" dirty="0"/>
              <a:t>Anomaly Detection:</a:t>
            </a:r>
            <a:r>
              <a:rPr lang="en-IN" sz="2400" dirty="0"/>
              <a:t> Isolation Forest, Local Outlier Factor</a:t>
            </a:r>
          </a:p>
          <a:p>
            <a:pPr marL="0" indent="0">
              <a:buNone/>
            </a:pPr>
            <a:r>
              <a:rPr lang="en-IN" sz="2400" b="1" u="sng" dirty="0"/>
              <a:t>Development &amp; Deployment</a:t>
            </a:r>
          </a:p>
          <a:p>
            <a:r>
              <a:rPr lang="en-IN" sz="2400" b="1" dirty="0"/>
              <a:t>Git/GitHub:</a:t>
            </a:r>
            <a:r>
              <a:rPr lang="en-IN" sz="2400" dirty="0"/>
              <a:t> Version control</a:t>
            </a:r>
          </a:p>
          <a:p>
            <a:pPr marL="0" indent="0">
              <a:buNone/>
            </a:pPr>
            <a:r>
              <a:rPr lang="en-IN" sz="2400" b="1" dirty="0" smtClean="0"/>
              <a:t>Why </a:t>
            </a:r>
            <a:r>
              <a:rPr lang="en-IN" sz="2400" b="1" dirty="0"/>
              <a:t>This Stack?</a:t>
            </a:r>
            <a:endParaRPr lang="en-IN" sz="2400" dirty="0"/>
          </a:p>
          <a:p>
            <a:r>
              <a:rPr lang="en-IN" sz="2400" b="1" dirty="0"/>
              <a:t>Rapid Prototyping:</a:t>
            </a:r>
            <a:r>
              <a:rPr lang="en-IN" sz="2400" dirty="0"/>
              <a:t> </a:t>
            </a:r>
            <a:r>
              <a:rPr lang="en-IN" sz="2400" dirty="0" err="1"/>
              <a:t>Streamlit</a:t>
            </a:r>
            <a:r>
              <a:rPr lang="en-IN" sz="2400" dirty="0"/>
              <a:t> enables quick iterations</a:t>
            </a:r>
          </a:p>
          <a:p>
            <a:r>
              <a:rPr lang="en-IN" sz="2400" b="1" dirty="0"/>
              <a:t>Scalability:</a:t>
            </a:r>
            <a:r>
              <a:rPr lang="en-IN" sz="2400" dirty="0"/>
              <a:t> Python ecosystem supports growth</a:t>
            </a:r>
          </a:p>
          <a:p>
            <a:r>
              <a:rPr lang="en-IN" sz="2400" b="1" dirty="0"/>
              <a:t>Cost-effective:</a:t>
            </a:r>
            <a:r>
              <a:rPr lang="en-IN" sz="2400" dirty="0"/>
              <a:t> Open-source technologies</a:t>
            </a:r>
          </a:p>
          <a:p>
            <a:r>
              <a:rPr lang="en-IN" sz="2400" b="1" dirty="0"/>
              <a:t>Maintainable:</a:t>
            </a:r>
            <a:r>
              <a:rPr lang="en-IN" sz="2400" dirty="0"/>
              <a:t> Clean, modular codebase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F7A2A0A-294E-FA25-8547-EFE5FFDB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97A3C8A-C79F-0886-6913-95E40B9D2A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DE4D2A6C-8009-D955-CB49-A7CF5ADF2E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4140D7E-40E6-119B-218F-B68DEFC86D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C799DDB-6620-D7D4-6FAA-B9750EAD6277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3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9BECF2-EEA9-FF06-35BA-7A331984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0C6598-E773-1823-49CE-8650DDEA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Challenges Faced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C91DF0-89E9-76B9-AD6A-DB306A119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Challenge 1: Data Integration</a:t>
            </a:r>
          </a:p>
          <a:p>
            <a:r>
              <a:rPr lang="en-IN" b="1" dirty="0"/>
              <a:t>Problem:</a:t>
            </a:r>
            <a:r>
              <a:rPr lang="en-IN" dirty="0"/>
              <a:t> Multiple data formats, missing fields, inconsistent schemas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 Built flexible data loaders with intelligent column matching</a:t>
            </a:r>
            <a:br>
              <a:rPr lang="en-IN" dirty="0"/>
            </a:br>
            <a:r>
              <a:rPr lang="en-IN" b="1" dirty="0"/>
              <a:t>Outcome:</a:t>
            </a:r>
            <a:r>
              <a:rPr lang="en-IN" dirty="0"/>
              <a:t> Single interface for CSV, Excel, and future database sources</a:t>
            </a:r>
          </a:p>
          <a:p>
            <a:pPr marL="0" indent="0">
              <a:buNone/>
            </a:pPr>
            <a:r>
              <a:rPr lang="en-US" b="1" dirty="0"/>
              <a:t>Challenge 2: Realistic Sample Data</a:t>
            </a:r>
          </a:p>
          <a:p>
            <a:r>
              <a:rPr lang="en-US" b="1" dirty="0"/>
              <a:t>Problem:</a:t>
            </a:r>
            <a:r>
              <a:rPr lang="en-US" dirty="0"/>
              <a:t> No access to real government datasets</a:t>
            </a:r>
            <a:br>
              <a:rPr lang="en-US" dirty="0"/>
            </a:br>
            <a:r>
              <a:rPr lang="en-US" b="1" dirty="0"/>
              <a:t>Solution:</a:t>
            </a:r>
            <a:r>
              <a:rPr lang="en-US" dirty="0"/>
              <a:t> Created synthetic data with embedded fraud patterns</a:t>
            </a:r>
            <a:br>
              <a:rPr lang="en-US" dirty="0"/>
            </a:br>
            <a:r>
              <a:rPr lang="en-US" b="1" dirty="0"/>
              <a:t>Outcome:</a:t>
            </a:r>
            <a:r>
              <a:rPr lang="en-US" dirty="0"/>
              <a:t> Realistic demonstration of detection capabilities</a:t>
            </a:r>
          </a:p>
          <a:p>
            <a:pPr marL="0" indent="0">
              <a:buNone/>
            </a:pPr>
            <a:r>
              <a:rPr lang="en-US" b="1" dirty="0"/>
              <a:t>Challenge 3: User Experience</a:t>
            </a:r>
          </a:p>
          <a:p>
            <a:r>
              <a:rPr lang="en-US" b="1" dirty="0"/>
              <a:t>Problem:</a:t>
            </a:r>
            <a:r>
              <a:rPr lang="en-US" dirty="0"/>
              <a:t> Making complex analytics accessible to non-technical users</a:t>
            </a:r>
            <a:br>
              <a:rPr lang="en-US" dirty="0"/>
            </a:br>
            <a:r>
              <a:rPr lang="en-US" b="1" dirty="0"/>
              <a:t>Solution:</a:t>
            </a:r>
            <a:r>
              <a:rPr lang="en-US" dirty="0"/>
              <a:t> Intuitive dashboard with visual explanations</a:t>
            </a:r>
            <a:br>
              <a:rPr lang="en-US" dirty="0"/>
            </a:br>
            <a:r>
              <a:rPr lang="en-US" b="1" dirty="0"/>
              <a:t>Outcome:</a:t>
            </a:r>
            <a:r>
              <a:rPr lang="en-US" dirty="0"/>
              <a:t> Clear insights through charts, scores, and simple language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E3562F1-842D-8BCE-F1A6-124D3C7C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4B853AD-4104-6B2E-2C5B-295E6A93A7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456F6264-AF4A-3512-C2D7-84A3F33B4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F024DA5-ACD1-028E-9F83-5BB2D71557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60E6F8D1-18CF-0F86-F72D-E51E124D4EA8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87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EB1502-06F5-81D3-0334-6C386507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8E5D65-90C6-4F6A-6DA3-20D7ECCB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Future Scope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497A97-2B9D-9814-8CD8-A39480F6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Phase 1</a:t>
            </a:r>
          </a:p>
          <a:p>
            <a:r>
              <a:rPr lang="en-IN" b="1" dirty="0"/>
              <a:t>Pilot Program:</a:t>
            </a:r>
            <a:r>
              <a:rPr lang="en-IN" dirty="0"/>
              <a:t> Implement in one district with real data</a:t>
            </a:r>
          </a:p>
          <a:p>
            <a:r>
              <a:rPr lang="en-IN" b="1" dirty="0"/>
              <a:t>Enhanced Algorithms:</a:t>
            </a:r>
            <a:r>
              <a:rPr lang="en-IN" dirty="0"/>
              <a:t> Add ML models for pattern recognition</a:t>
            </a:r>
          </a:p>
          <a:p>
            <a:r>
              <a:rPr lang="en-IN" b="1" dirty="0"/>
              <a:t>Mobile Integration:</a:t>
            </a:r>
            <a:r>
              <a:rPr lang="en-IN" dirty="0"/>
              <a:t> Field officer app for on-site verification</a:t>
            </a:r>
          </a:p>
          <a:p>
            <a:pPr marL="0" indent="0">
              <a:buNone/>
            </a:pPr>
            <a:r>
              <a:rPr lang="en-IN" b="1" dirty="0"/>
              <a:t>Phase 2 </a:t>
            </a:r>
          </a:p>
          <a:p>
            <a:r>
              <a:rPr lang="en-IN" b="1" dirty="0"/>
              <a:t>State-wide Rollout:</a:t>
            </a:r>
            <a:r>
              <a:rPr lang="en-IN" dirty="0"/>
              <a:t> Scale to multiple districts</a:t>
            </a:r>
          </a:p>
          <a:p>
            <a:r>
              <a:rPr lang="en-IN" b="1" dirty="0"/>
              <a:t>Blockchain Integration:</a:t>
            </a:r>
            <a:r>
              <a:rPr lang="en-IN" dirty="0"/>
              <a:t> Immutable transaction records</a:t>
            </a:r>
          </a:p>
          <a:p>
            <a:r>
              <a:rPr lang="en-IN" b="1" dirty="0"/>
              <a:t>API Ecosystem:</a:t>
            </a:r>
            <a:r>
              <a:rPr lang="en-IN" dirty="0"/>
              <a:t> Integration with banking and land records</a:t>
            </a:r>
            <a:br>
              <a:rPr lang="en-IN" dirty="0"/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FFC6248-3965-7E7B-7F81-64DE9BFF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E6413DC-DB42-F3F0-AD4D-B9A69A5210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F71F99BF-E0D5-BFCF-C6FA-76011D4D3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68FCD37-5D69-195B-0DEA-496CA5E697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10651AEE-733E-F71A-C05E-F0B8E405A9C9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96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382171-EA52-E2BC-B6C6-969F237F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ADBDD4-9EC9-E8A4-21E7-E4996F17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Future Scope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CD6BCF-BF32-446A-A793-4EC635193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880"/>
            <a:ext cx="10515600" cy="47240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Phase 3 </a:t>
            </a:r>
            <a:endParaRPr lang="en-IN" dirty="0"/>
          </a:p>
          <a:p>
            <a:r>
              <a:rPr lang="en-IN" b="1" dirty="0"/>
              <a:t>National Platform:</a:t>
            </a:r>
            <a:r>
              <a:rPr lang="en-IN" dirty="0"/>
              <a:t> Pan-India subsidy monitoring</a:t>
            </a:r>
          </a:p>
          <a:p>
            <a:r>
              <a:rPr lang="en-IN" b="1" dirty="0"/>
              <a:t>Predictive Analytics:</a:t>
            </a:r>
            <a:r>
              <a:rPr lang="en-IN" dirty="0"/>
              <a:t> Forecast fraud before it happens</a:t>
            </a:r>
          </a:p>
          <a:p>
            <a:r>
              <a:rPr lang="en-IN" b="1" dirty="0"/>
              <a:t>Multi-scheme Support:</a:t>
            </a:r>
            <a:r>
              <a:rPr lang="en-IN" dirty="0"/>
              <a:t> Expand beyond fertilizers to seeds, equipment</a:t>
            </a:r>
          </a:p>
          <a:p>
            <a:pPr marL="0" indent="0">
              <a:buNone/>
            </a:pPr>
            <a:r>
              <a:rPr lang="en-IN" b="1" dirty="0"/>
              <a:t>Long-term Vision</a:t>
            </a:r>
            <a:endParaRPr lang="en-IN" dirty="0"/>
          </a:p>
          <a:p>
            <a:r>
              <a:rPr lang="en-IN" b="1" dirty="0"/>
              <a:t>Global Applicability:</a:t>
            </a:r>
            <a:r>
              <a:rPr lang="en-IN" dirty="0"/>
              <a:t> Adapt for other countries' subsidy programs</a:t>
            </a:r>
          </a:p>
          <a:p>
            <a:r>
              <a:rPr lang="en-IN" b="1" dirty="0"/>
              <a:t>Farmer Empowerment Portal:</a:t>
            </a:r>
            <a:r>
              <a:rPr lang="en-IN" dirty="0"/>
              <a:t> Direct benefit transfer interface</a:t>
            </a:r>
          </a:p>
          <a:p>
            <a:r>
              <a:rPr lang="en-IN" b="1" dirty="0"/>
              <a:t>Policy Analytics:</a:t>
            </a:r>
            <a:r>
              <a:rPr lang="en-IN" dirty="0"/>
              <a:t> Data-driven subsidy policy recommendations</a:t>
            </a:r>
          </a:p>
          <a:p>
            <a:pPr marL="0" indent="0">
              <a:buNone/>
            </a:pPr>
            <a:r>
              <a:rPr lang="en-IN" b="1" dirty="0"/>
              <a:t>Impact Metrics:</a:t>
            </a:r>
            <a:endParaRPr lang="en-IN" dirty="0"/>
          </a:p>
          <a:p>
            <a:r>
              <a:rPr lang="en-IN" dirty="0"/>
              <a:t>Target: </a:t>
            </a:r>
            <a:r>
              <a:rPr lang="en-IN" b="1" dirty="0"/>
              <a:t>25% reduction</a:t>
            </a:r>
            <a:r>
              <a:rPr lang="en-IN" dirty="0"/>
              <a:t> in subsidy leakage within 2 years</a:t>
            </a:r>
          </a:p>
          <a:p>
            <a:r>
              <a:rPr lang="en-IN" dirty="0"/>
              <a:t>Goal: </a:t>
            </a:r>
            <a:r>
              <a:rPr lang="en-IN" b="1" dirty="0"/>
              <a:t>100% beneficiary verification</a:t>
            </a:r>
            <a:r>
              <a:rPr lang="en-IN" dirty="0"/>
              <a:t> in pilot district</a:t>
            </a:r>
          </a:p>
          <a:p>
            <a:r>
              <a:rPr lang="en-IN" dirty="0"/>
              <a:t>Vision: </a:t>
            </a:r>
            <a:r>
              <a:rPr lang="en-IN" b="1" dirty="0"/>
              <a:t>Transparent, efficient</a:t>
            </a:r>
            <a:r>
              <a:rPr lang="en-IN" dirty="0"/>
              <a:t> agricultural subsidy ecosystem</a:t>
            </a:r>
            <a:endParaRPr lang="en-IN" dirty="0"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E23375D-F1D0-BF07-8770-23DDCB1A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6E0DEFB-3B06-0ED2-71AF-362A177974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xmlns="" id="{99C53C73-703B-D713-7272-D0FDBC627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4ACB989-2A09-FD79-B4DE-7D33C29A6B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3850B4E-3511-C0EF-6384-9A7B89F96696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15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015FA20-81FB-1208-323B-9D75E701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E2CAD1-A3E2-6F90-F026-AF12443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000" dirty="0">
                <a:solidFill>
                  <a:srgbClr val="FFFF00"/>
                </a:solidFill>
                <a:latin typeface="Berlin Sans FB Demi" panose="020E0802020502020306" pitchFamily="34" charset="0"/>
              </a:rPr>
              <a:t>Thank You</a:t>
            </a:r>
            <a:endParaRPr lang="en-IN" sz="7000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517AF0-97CC-2401-0587-8ED61B46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1ADFA85-6F77-6625-74E5-2DC55BE05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pic>
        <p:nvPicPr>
          <p:cNvPr id="7" name="Picture 2" descr="Coding Club RVCE - YouTube">
            <a:extLst>
              <a:ext uri="{FF2B5EF4-FFF2-40B4-BE49-F238E27FC236}">
                <a16:creationId xmlns:a16="http://schemas.microsoft.com/office/drawing/2014/main" xmlns="" id="{BB85B39C-23BD-6A71-6759-A81C3A50CF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A78185F-E472-BCE4-EF12-A430DDC6DA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8664BFC-8FC8-D2D4-8C23-95D0A94958B8}"/>
              </a:ext>
            </a:extLst>
          </p:cNvPr>
          <p:cNvCxnSpPr>
            <a:cxnSpLocks/>
          </p:cNvCxnSpPr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31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1621</TotalTime>
  <Words>157</Words>
  <Application>Microsoft Office PowerPoint</Application>
  <PresentationFormat>Custom</PresentationFormat>
  <Paragraphs>128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Team Name : Team Sudarshan</vt:lpstr>
      <vt:lpstr>Problem Statement</vt:lpstr>
      <vt:lpstr>Problem Statement</vt:lpstr>
      <vt:lpstr>Proposed Solution</vt:lpstr>
      <vt:lpstr>Key Features</vt:lpstr>
      <vt:lpstr>Key Features</vt:lpstr>
      <vt:lpstr>System Architecture</vt:lpstr>
      <vt:lpstr>Tech Stack</vt:lpstr>
      <vt:lpstr>Tech Stack</vt:lpstr>
      <vt:lpstr>Challenges Faced</vt:lpstr>
      <vt:lpstr>Future Scope</vt:lpstr>
      <vt:lpstr>Future Scope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: Team Sudarshan</dc:title>
  <dc:creator>Raghavendra Prasad B M</dc:creator>
  <cp:lastModifiedBy>Inika Ranganath Prasad</cp:lastModifiedBy>
  <cp:revision>13</cp:revision>
  <dcterms:created xsi:type="dcterms:W3CDTF">2025-12-01T05:54:45Z</dcterms:created>
  <dcterms:modified xsi:type="dcterms:W3CDTF">2025-12-05T03:05:47Z</dcterms:modified>
</cp:coreProperties>
</file>